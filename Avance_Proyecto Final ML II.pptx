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Fira Sans Extra Condensed Medium"/>
      <p:regular r:id="rId18"/>
      <p:bold r:id="rId19"/>
      <p:italic r:id="rId20"/>
      <p:boldItalic r:id="rId21"/>
    </p:embeddedFont>
    <p:embeddedFont>
      <p:font typeface="Fira Sans SemiBold"/>
      <p:regular r:id="rId22"/>
      <p:bold r:id="rId23"/>
      <p:italic r:id="rId24"/>
      <p:boldItalic r:id="rId25"/>
    </p:embeddedFont>
    <p:embeddedFont>
      <p:font typeface="Fira Sans Extra Condensed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1qu2h++1wKXg5I/zcHkvCZGMP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Medium-italic.fntdata"/><Relationship Id="rId22" Type="http://schemas.openxmlformats.org/officeDocument/2006/relationships/font" Target="fonts/FiraSansSemiBold-regular.fntdata"/><Relationship Id="rId21" Type="http://schemas.openxmlformats.org/officeDocument/2006/relationships/font" Target="fonts/FiraSansExtraCondensedMedium-boldItalic.fntdata"/><Relationship Id="rId24" Type="http://schemas.openxmlformats.org/officeDocument/2006/relationships/font" Target="fonts/FiraSansSemiBold-italic.fntdata"/><Relationship Id="rId23" Type="http://schemas.openxmlformats.org/officeDocument/2006/relationships/font" Target="fonts/FiraSans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raSansExtraCondensedSemiBold-regular.fntdata"/><Relationship Id="rId25" Type="http://schemas.openxmlformats.org/officeDocument/2006/relationships/font" Target="fonts/FiraSansSemiBold-boldItalic.fntdata"/><Relationship Id="rId28" Type="http://schemas.openxmlformats.org/officeDocument/2006/relationships/font" Target="fonts/FiraSansExtraCondensedSemiBold-italic.fntdata"/><Relationship Id="rId27" Type="http://schemas.openxmlformats.org/officeDocument/2006/relationships/font" Target="fonts/FiraSansExtraCondensedSemi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FiraSansExtraCondensed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FiraSansExtraCondensedMedium-bold.fntdata"/><Relationship Id="rId18" Type="http://schemas.openxmlformats.org/officeDocument/2006/relationships/font" Target="fonts/FiraSansExtraCondensed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857a5ce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" name="Google Shape;48;g3b857a5ce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8919a62a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b8919a62a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8919a62a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b8919a62a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8919a62a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b8919a62a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0"/>
          <p:cNvSpPr txBox="1"/>
          <p:nvPr>
            <p:ph type="ctrTitle"/>
          </p:nvPr>
        </p:nvSpPr>
        <p:spPr>
          <a:xfrm>
            <a:off x="1597276" y="1051338"/>
            <a:ext cx="3402900" cy="23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5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Fira Sans SemiBold"/>
              <a:buNone/>
              <a:defRPr sz="4000">
                <a:latin typeface="Fira Sans SemiBold"/>
                <a:ea typeface="Fira Sans SemiBold"/>
                <a:cs typeface="Fira Sans SemiBold"/>
                <a:sym typeface="Fira Sans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Fira Sans SemiBold"/>
              <a:buNone/>
              <a:defRPr sz="4000">
                <a:latin typeface="Fira Sans SemiBold"/>
                <a:ea typeface="Fira Sans SemiBold"/>
                <a:cs typeface="Fira Sans SemiBold"/>
                <a:sym typeface="Fira Sans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Fira Sans SemiBold"/>
              <a:buNone/>
              <a:defRPr sz="4000">
                <a:latin typeface="Fira Sans SemiBold"/>
                <a:ea typeface="Fira Sans SemiBold"/>
                <a:cs typeface="Fira Sans SemiBold"/>
                <a:sym typeface="Fira Sans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Fira Sans SemiBold"/>
              <a:buNone/>
              <a:defRPr sz="4000">
                <a:latin typeface="Fira Sans SemiBold"/>
                <a:ea typeface="Fira Sans SemiBold"/>
                <a:cs typeface="Fira Sans SemiBold"/>
                <a:sym typeface="Fira Sans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Fira Sans SemiBold"/>
              <a:buNone/>
              <a:defRPr sz="4000">
                <a:latin typeface="Fira Sans SemiBold"/>
                <a:ea typeface="Fira Sans SemiBold"/>
                <a:cs typeface="Fira Sans SemiBold"/>
                <a:sym typeface="Fira Sans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Fira Sans SemiBold"/>
              <a:buNone/>
              <a:defRPr sz="4000">
                <a:latin typeface="Fira Sans SemiBold"/>
                <a:ea typeface="Fira Sans SemiBold"/>
                <a:cs typeface="Fira Sans SemiBold"/>
                <a:sym typeface="Fira Sans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Fira Sans SemiBold"/>
              <a:buNone/>
              <a:defRPr sz="4000">
                <a:latin typeface="Fira Sans SemiBold"/>
                <a:ea typeface="Fira Sans SemiBold"/>
                <a:cs typeface="Fira Sans SemiBold"/>
                <a:sym typeface="Fira Sans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Fira Sans SemiBold"/>
              <a:buNone/>
              <a:defRPr sz="4000">
                <a:latin typeface="Fira Sans SemiBold"/>
                <a:ea typeface="Fira Sans SemiBold"/>
                <a:cs typeface="Fira Sans SemiBold"/>
                <a:sym typeface="Fira Sans SemiBold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" type="subTitle"/>
          </p:nvPr>
        </p:nvSpPr>
        <p:spPr>
          <a:xfrm>
            <a:off x="1597275" y="3379963"/>
            <a:ext cx="34029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457200" y="3774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457200" y="1398750"/>
            <a:ext cx="2808000" cy="3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2"/>
          <p:cNvSpPr txBox="1"/>
          <p:nvPr>
            <p:ph type="title"/>
          </p:nvPr>
        </p:nvSpPr>
        <p:spPr>
          <a:xfrm>
            <a:off x="457200" y="2150850"/>
            <a:ext cx="8229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411475" y="301200"/>
            <a:ext cx="8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411475" y="1397625"/>
            <a:ext cx="8320800" cy="3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411475" y="301200"/>
            <a:ext cx="8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457200" y="1152475"/>
            <a:ext cx="38544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14"/>
          <p:cNvSpPr txBox="1"/>
          <p:nvPr>
            <p:ph idx="2" type="body"/>
          </p:nvPr>
        </p:nvSpPr>
        <p:spPr>
          <a:xfrm>
            <a:off x="4832400" y="1152475"/>
            <a:ext cx="38544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457200" y="377400"/>
            <a:ext cx="6400800" cy="43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6"/>
          <p:cNvSpPr txBox="1"/>
          <p:nvPr>
            <p:ph type="title"/>
          </p:nvPr>
        </p:nvSpPr>
        <p:spPr>
          <a:xfrm>
            <a:off x="457200" y="1023075"/>
            <a:ext cx="38370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p16"/>
          <p:cNvSpPr txBox="1"/>
          <p:nvPr>
            <p:ph idx="1" type="subTitle"/>
          </p:nvPr>
        </p:nvSpPr>
        <p:spPr>
          <a:xfrm>
            <a:off x="473700" y="2803075"/>
            <a:ext cx="38370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457200" y="4161000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hasCustomPrompt="1" type="title"/>
          </p:nvPr>
        </p:nvSpPr>
        <p:spPr>
          <a:xfrm>
            <a:off x="457200" y="1106125"/>
            <a:ext cx="8229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8"/>
          <p:cNvSpPr txBox="1"/>
          <p:nvPr>
            <p:ph idx="1" type="body"/>
          </p:nvPr>
        </p:nvSpPr>
        <p:spPr>
          <a:xfrm>
            <a:off x="457200" y="3152225"/>
            <a:ext cx="8229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11475" y="301200"/>
            <a:ext cx="8320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SemiBold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 Extra Condensed Medium"/>
              <a:buNone/>
              <a:defRPr b="0" i="0" sz="2600" u="none" cap="none" strike="noStrike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11475" y="1397625"/>
            <a:ext cx="8320800" cy="33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"/>
              <a:buChar char="■"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Relationship Id="rId7" Type="http://schemas.openxmlformats.org/officeDocument/2006/relationships/image" Target="../media/image16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765" y="654402"/>
            <a:ext cx="4761905" cy="3304762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"/>
          <p:cNvSpPr txBox="1"/>
          <p:nvPr>
            <p:ph type="ctrTitle"/>
          </p:nvPr>
        </p:nvSpPr>
        <p:spPr>
          <a:xfrm>
            <a:off x="5262371" y="1133783"/>
            <a:ext cx="3402900" cy="23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ES" sz="3200"/>
              <a:t>Aplicación de Machine Learning en detección de obstrucción en pipelines</a:t>
            </a:r>
            <a:endParaRPr sz="3200"/>
          </a:p>
        </p:txBody>
      </p:sp>
      <p:sp>
        <p:nvSpPr>
          <p:cNvPr id="42" name="Google Shape;42;p1"/>
          <p:cNvSpPr txBox="1"/>
          <p:nvPr/>
        </p:nvSpPr>
        <p:spPr>
          <a:xfrm>
            <a:off x="5652247" y="4759377"/>
            <a:ext cx="335059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Marcelo Carmona S. – Paula Alvarez V.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"/>
          <p:cNvSpPr txBox="1"/>
          <p:nvPr/>
        </p:nvSpPr>
        <p:spPr>
          <a:xfrm>
            <a:off x="245765" y="182380"/>
            <a:ext cx="355578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ES"/>
              <a:t>MACHINE LEARNING II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rand" id="44" name="Google Shape;44;p1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 dibujo animado con letras&#10;&#10;El contenido generado por IA puede ser incorrecto." id="45" name="Google Shape;4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0517" y="117257"/>
            <a:ext cx="1492327" cy="4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857a5ce17_0_0"/>
          <p:cNvSpPr txBox="1"/>
          <p:nvPr>
            <p:ph type="title"/>
          </p:nvPr>
        </p:nvSpPr>
        <p:spPr>
          <a:xfrm>
            <a:off x="142396" y="9025"/>
            <a:ext cx="43209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CONTEXTO </a:t>
            </a:r>
            <a:endParaRPr sz="2000"/>
          </a:p>
        </p:txBody>
      </p:sp>
      <p:pic>
        <p:nvPicPr>
          <p:cNvPr id="51" name="Google Shape;51;g3b857a5ce17_0_0"/>
          <p:cNvPicPr preferRelativeResize="0"/>
          <p:nvPr/>
        </p:nvPicPr>
        <p:blipFill rotWithShape="1">
          <a:blip r:embed="rId3">
            <a:alphaModFix/>
          </a:blip>
          <a:srcRect b="-9871" l="0" r="0" t="3034"/>
          <a:stretch/>
        </p:blipFill>
        <p:spPr>
          <a:xfrm>
            <a:off x="152400" y="764175"/>
            <a:ext cx="8839201" cy="446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>
            <p:ph type="title"/>
          </p:nvPr>
        </p:nvSpPr>
        <p:spPr>
          <a:xfrm>
            <a:off x="142407" y="9033"/>
            <a:ext cx="2795665" cy="50327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Problemática y Relevancia</a:t>
            </a:r>
            <a:endParaRPr sz="2000"/>
          </a:p>
        </p:txBody>
      </p:sp>
      <p:sp>
        <p:nvSpPr>
          <p:cNvPr id="57" name="Google Shape;57;p2"/>
          <p:cNvSpPr txBox="1"/>
          <p:nvPr>
            <p:ph idx="1" type="body"/>
          </p:nvPr>
        </p:nvSpPr>
        <p:spPr>
          <a:xfrm>
            <a:off x="3924236" y="851556"/>
            <a:ext cx="5024891" cy="3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83341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b="1" lang="es-ES"/>
              <a:t>Impacto de las obstrucciones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lang="es-ES"/>
              <a:t>Las obstrucciones en pipelines causan pérdidas operacionales, riesgos de seguridad y altos costos de mantenimiento en minería.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b="1" lang="es-ES"/>
              <a:t>Causas principales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lang="es-ES"/>
              <a:t>Sedimentación, variaciones reológicas y condiciones transientes en el flujo son las causas comunes de bloqueos.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b="1" lang="es-ES"/>
              <a:t>Limitaciones de métodos tradicionales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lang="es-ES"/>
              <a:t>Los métodos basados en pulsos de presión tienen precisión aceptable, pero limitaciones en geometría y condiciones hidráulicas.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b="1" lang="es-ES"/>
              <a:t>Necesidad de soluciones robustas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lang="es-ES"/>
              <a:t>Es fundamental desarrollar soluciones adaptativas para detectar bloqueos tempranos y mejorar la operación minera.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lang="es-ES"/>
              <a:t>Esta necesidad si se traduce a perdidas económicas bordean los  7 millones de USD por día si ocurriese un evento de obstrucción.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 b="7560" l="1600" r="2633" t="4428"/>
          <a:stretch/>
        </p:blipFill>
        <p:spPr>
          <a:xfrm>
            <a:off x="257118" y="445939"/>
            <a:ext cx="2870803" cy="12336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calle, hombre, agua, barco&#10;&#10;El contenido generado por IA puede ser incorrecto." id="59" name="Google Shape;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299" y="3555639"/>
            <a:ext cx="2861621" cy="1397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204" y="1801251"/>
            <a:ext cx="2995718" cy="1467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442444" y="62146"/>
            <a:ext cx="1356610" cy="4995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Objetivos </a:t>
            </a:r>
            <a:endParaRPr sz="2000"/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579550" y="812752"/>
            <a:ext cx="4639500" cy="40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200"/>
              <a:buFont typeface="Arial"/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Desarrollar un modelo supervisado que detecte y alerte tempranamente obstrucciones en pipelines de larga distancia de transporte de sólidos, integrando telemetría hidráulica (presión/caudal), y aprendizaje automático.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Objetivo </a:t>
            </a:r>
            <a:r>
              <a:rPr b="1" lang="es-ES">
                <a:latin typeface="Calibri"/>
                <a:ea typeface="Calibri"/>
                <a:cs typeface="Calibri"/>
                <a:sym typeface="Calibri"/>
              </a:rPr>
              <a:t>Específico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1- Diseñar un flujo de procesamiento de datos robusto (adquisición, limpieza, ingeniería de características, etiquetado).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2- Generar dataset sintético con utilización de método de 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características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2- Entrenar y comparar clasificadores supervisados clasificación binaria. (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Regresión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logística</a:t>
            </a:r>
            <a:r>
              <a:rPr lang="es-ES">
                <a:latin typeface="Calibri"/>
                <a:ea typeface="Calibri"/>
                <a:cs typeface="Calibri"/>
                <a:sym typeface="Calibri"/>
              </a:rPr>
              <a:t>, árboles de decisión, SVM)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3- Validar modelo seleccionado</a:t>
            </a:r>
            <a:endParaRPr/>
          </a:p>
          <a:p>
            <a:pPr indent="0" lvl="1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descr="Icono&#10;&#10;El contenido generado por IA puede ser incorrecto.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67" y="77302"/>
            <a:ext cx="422223" cy="422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2558" y="1236687"/>
            <a:ext cx="2341901" cy="234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type="title"/>
          </p:nvPr>
        </p:nvSpPr>
        <p:spPr>
          <a:xfrm>
            <a:off x="442453" y="253550"/>
            <a:ext cx="24582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Flujo de Trabajo</a:t>
            </a:r>
            <a:endParaRPr sz="2000"/>
          </a:p>
        </p:txBody>
      </p:sp>
      <p:pic>
        <p:nvPicPr>
          <p:cNvPr descr="Icono&#10;&#10;El contenido generado por IA puede ser incorrecto.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" y="292200"/>
            <a:ext cx="422223" cy="422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267" y="1917805"/>
            <a:ext cx="579620" cy="579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76" name="Google Shape;7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8167" y="2398690"/>
            <a:ext cx="530885" cy="5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 txBox="1"/>
          <p:nvPr/>
        </p:nvSpPr>
        <p:spPr>
          <a:xfrm>
            <a:off x="1996325" y="1702665"/>
            <a:ext cx="19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200"/>
              <a:t>Data presión, caudal, VelBba.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ma&#10;&#10;El contenido generado por IA puede ser incorrecto."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8167" y="1698815"/>
            <a:ext cx="530885" cy="5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 txBox="1"/>
          <p:nvPr/>
        </p:nvSpPr>
        <p:spPr>
          <a:xfrm>
            <a:off x="1996325" y="2335253"/>
            <a:ext cx="1914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200"/>
              <a:t>Data ubicación, </a:t>
            </a:r>
            <a:r>
              <a:rPr lang="es-ES" sz="1200"/>
              <a:t>elevación</a:t>
            </a:r>
            <a:r>
              <a:rPr lang="es-ES" sz="1200"/>
              <a:t>, presión, </a:t>
            </a:r>
            <a:r>
              <a:rPr lang="es-ES" sz="1200"/>
              <a:t>diámetro</a:t>
            </a:r>
            <a:r>
              <a:rPr lang="es-ES" sz="1200"/>
              <a:t> , espesor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745475" y="2063375"/>
            <a:ext cx="531000" cy="3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Forma&#10;&#10;El contenido generado por IA puede ser incorrecto." id="81" name="Google Shape;8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4517" y="1988630"/>
            <a:ext cx="579620" cy="5796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 txBox="1"/>
          <p:nvPr/>
        </p:nvSpPr>
        <p:spPr>
          <a:xfrm>
            <a:off x="6399125" y="2568240"/>
            <a:ext cx="19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200"/>
              <a:t>dataset_entrenamiento_obstrucciones.csv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23000" y="1988625"/>
            <a:ext cx="1128300" cy="53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Roboto"/>
                <a:ea typeface="Roboto"/>
                <a:cs typeface="Roboto"/>
                <a:sym typeface="Roboto"/>
              </a:rPr>
              <a:t>MOC / SIM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789300" y="2059725"/>
            <a:ext cx="531000" cy="38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457200"/>
            <a:ext cx="1143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600" y="609600"/>
            <a:ext cx="1047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50275" y="3152628"/>
            <a:ext cx="4225893" cy="1856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53878" y="944875"/>
            <a:ext cx="4012017" cy="58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8919a62a7_0_30"/>
          <p:cNvSpPr txBox="1"/>
          <p:nvPr>
            <p:ph type="title"/>
          </p:nvPr>
        </p:nvSpPr>
        <p:spPr>
          <a:xfrm>
            <a:off x="442453" y="253550"/>
            <a:ext cx="24582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Flujo de Trabajo</a:t>
            </a:r>
            <a:endParaRPr sz="2000"/>
          </a:p>
        </p:txBody>
      </p:sp>
      <p:pic>
        <p:nvPicPr>
          <p:cNvPr descr="Icono&#10;&#10;El contenido generado por IA puede ser incorrecto." id="94" name="Google Shape;94;g3b8919a62a7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" y="292200"/>
            <a:ext cx="422223" cy="422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95" name="Google Shape;95;g3b8919a62a7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2" y="1689605"/>
            <a:ext cx="579620" cy="5796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b8919a62a7_0_30"/>
          <p:cNvSpPr txBox="1"/>
          <p:nvPr/>
        </p:nvSpPr>
        <p:spPr>
          <a:xfrm>
            <a:off x="59450" y="2340890"/>
            <a:ext cx="19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200"/>
              <a:t>dataset_entrenamiento_obstrucciones.csv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g3b8919a62a7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3750" y="714425"/>
            <a:ext cx="2786045" cy="216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b8919a62a7_0_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8275" y="753050"/>
            <a:ext cx="3027650" cy="21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b8919a62a7_0_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57200" y="3009725"/>
            <a:ext cx="2367708" cy="196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b8919a62a7_0_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94520" y="2940050"/>
            <a:ext cx="2538859" cy="196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8919a62a7_0_55"/>
          <p:cNvSpPr txBox="1"/>
          <p:nvPr>
            <p:ph type="title"/>
          </p:nvPr>
        </p:nvSpPr>
        <p:spPr>
          <a:xfrm>
            <a:off x="442453" y="253550"/>
            <a:ext cx="24582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Entrenamiento Modelos Baseline</a:t>
            </a:r>
            <a:endParaRPr sz="2000"/>
          </a:p>
        </p:txBody>
      </p:sp>
      <p:pic>
        <p:nvPicPr>
          <p:cNvPr descr="Icono&#10;&#10;El contenido generado por IA puede ser incorrecto." id="106" name="Google Shape;106;g3b8919a62a7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" y="292200"/>
            <a:ext cx="422223" cy="422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b8919a62a7_0_55"/>
          <p:cNvSpPr txBox="1"/>
          <p:nvPr/>
        </p:nvSpPr>
        <p:spPr>
          <a:xfrm>
            <a:off x="798175" y="666740"/>
            <a:ext cx="19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200"/>
              <a:t>dataset_entrenamiento_obstrucciones.csv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b8919a62a7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457200"/>
            <a:ext cx="1143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b8919a62a7_0_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" y="609600"/>
            <a:ext cx="1047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b8919a62a7_0_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575" y="1139990"/>
            <a:ext cx="8839200" cy="880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b8919a62a7_0_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9700" y="2105175"/>
            <a:ext cx="2818650" cy="281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8919a62a7_0_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94450" y="2164975"/>
            <a:ext cx="43815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b8919a62a7_0_55" title="confusion_baselin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04525" y="3288325"/>
            <a:ext cx="1963511" cy="16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8919a62a7_0_74"/>
          <p:cNvSpPr txBox="1"/>
          <p:nvPr>
            <p:ph type="title"/>
          </p:nvPr>
        </p:nvSpPr>
        <p:spPr>
          <a:xfrm>
            <a:off x="442450" y="253550"/>
            <a:ext cx="47757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Ajuste Hiperparametros - Random </a:t>
            </a:r>
            <a:r>
              <a:rPr lang="es-ES" sz="2000"/>
              <a:t>Search</a:t>
            </a:r>
            <a:endParaRPr sz="2000"/>
          </a:p>
        </p:txBody>
      </p:sp>
      <p:pic>
        <p:nvPicPr>
          <p:cNvPr descr="Icono&#10;&#10;El contenido generado por IA puede ser incorrecto." id="119" name="Google Shape;119;g3b8919a62a7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" y="292200"/>
            <a:ext cx="422223" cy="422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b8919a62a7_0_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575" y="1198590"/>
            <a:ext cx="86772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b8919a62a7_0_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350" y="2601715"/>
            <a:ext cx="56292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442446" y="253548"/>
            <a:ext cx="1356610" cy="4995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ES" sz="2000"/>
              <a:t>Método </a:t>
            </a:r>
            <a:endParaRPr sz="2000"/>
          </a:p>
        </p:txBody>
      </p:sp>
      <p:pic>
        <p:nvPicPr>
          <p:cNvPr descr="Icono&#10;&#10;El contenido generado por IA puede ser incorrecto.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72" y="292200"/>
            <a:ext cx="422223" cy="422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292" y="108605"/>
            <a:ext cx="579620" cy="579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El contenido generado por IA puede ser incorrecto." id="129" name="Google Shape;1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3192" y="157340"/>
            <a:ext cx="530885" cy="53088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5658787" y="263282"/>
            <a:ext cx="56297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7222042" y="165959"/>
            <a:ext cx="191430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Real, 95k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Modelo, 3.200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agrama&#10;&#10;El contenido generado por IA puede ser incorrecto." id="132" name="Google Shape;13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2912" y="956446"/>
            <a:ext cx="3181662" cy="21211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33" name="Google Shape;13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62912" y="2991446"/>
            <a:ext cx="3114225" cy="207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El contenido generado por IA puede ser incorrecto." id="134" name="Google Shape;13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935369"/>
            <a:ext cx="5686147" cy="3790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ipeline Infographics by Slidesgo">
  <a:themeElements>
    <a:clrScheme name="Simple Light">
      <a:dk1>
        <a:srgbClr val="000000"/>
      </a:dk1>
      <a:lt1>
        <a:srgbClr val="FFFFFF"/>
      </a:lt1>
      <a:dk2>
        <a:srgbClr val="5192A9"/>
      </a:dk2>
      <a:lt2>
        <a:srgbClr val="F69E4E"/>
      </a:lt2>
      <a:accent1>
        <a:srgbClr val="BD5538"/>
      </a:accent1>
      <a:accent2>
        <a:srgbClr val="7FA492"/>
      </a:accent2>
      <a:accent3>
        <a:srgbClr val="738086"/>
      </a:accent3>
      <a:accent4>
        <a:srgbClr val="505B60"/>
      </a:accent4>
      <a:accent5>
        <a:srgbClr val="CACCCE"/>
      </a:accent5>
      <a:accent6>
        <a:srgbClr val="8C55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Marcelo Carmona Saavedra</dc:creator>
</cp:coreProperties>
</file>